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4"/>
  </p:notesMasterIdLst>
  <p:handoutMasterIdLst>
    <p:handoutMasterId r:id="rId25"/>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50" r:id="rId18"/>
    <p:sldId id="351" r:id="rId19"/>
    <p:sldId id="341" r:id="rId20"/>
    <p:sldId id="342" r:id="rId21"/>
    <p:sldId id="343" r:id="rId22"/>
    <p:sldId id="30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ManasThakre-Max/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62035" y="3521161"/>
            <a:ext cx="6138765" cy="861497"/>
          </a:xfrm>
        </p:spPr>
        <p:txBody>
          <a:bodyPr vert="horz" lIns="91440" tIns="45720" rIns="91440" bIns="45720" rtlCol="0" anchor="t">
            <a:normAutofit/>
          </a:bodyPr>
          <a:lstStyle/>
          <a:p>
            <a:pPr algn="r"/>
            <a:r>
              <a:rPr lang="en-US" b="0" dirty="0">
                <a:solidFill>
                  <a:schemeClr val="tx1"/>
                </a:solidFill>
              </a:rPr>
              <a:t>[Student </a:t>
            </a:r>
            <a:r>
              <a:rPr lang="en-US" b="0" dirty="0" err="1">
                <a:solidFill>
                  <a:schemeClr val="tx1"/>
                </a:solidFill>
              </a:rPr>
              <a:t>Name:Manas</a:t>
            </a:r>
            <a:r>
              <a:rPr lang="en-US" b="0" dirty="0">
                <a:solidFill>
                  <a:schemeClr val="tx1"/>
                </a:solidFill>
              </a:rPr>
              <a:t> Atul Thakre 	 </a:t>
            </a:r>
            <a:endParaRPr lang="en-IN" b="0" dirty="0">
              <a:solidFill>
                <a:schemeClr val="tx1"/>
              </a:solidFill>
            </a:endParaRPr>
          </a:p>
          <a:p>
            <a:pPr algn="r"/>
            <a:r>
              <a:rPr lang="en-US" b="0" dirty="0">
                <a:solidFill>
                  <a:schemeClr val="tx1"/>
                </a:solidFill>
              </a:rPr>
              <a:t>College Name- G. H. </a:t>
            </a:r>
            <a:r>
              <a:rPr lang="en-US" b="0" dirty="0" err="1">
                <a:solidFill>
                  <a:schemeClr val="tx1"/>
                </a:solidFill>
              </a:rPr>
              <a:t>Raisoni</a:t>
            </a:r>
            <a:r>
              <a:rPr lang="en-US" b="0" dirty="0">
                <a:solidFill>
                  <a:schemeClr val="tx1"/>
                </a:solidFill>
              </a:rPr>
              <a:t> College of Engineering]</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9678616" cy="743448"/>
          </a:xfrm>
        </p:spPr>
        <p:txBody>
          <a:bodyPr>
            <a:normAutofit fontScale="90000"/>
          </a:bodyPr>
          <a:lstStyle/>
          <a:p>
            <a:r>
              <a:rPr lang="en-GB" sz="3200" dirty="0"/>
              <a:t>Project Title -</a:t>
            </a:r>
            <a:r>
              <a:rPr lang="en-US"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85800"/>
            <a:ext cx="3829198" cy="646331"/>
          </a:xfrm>
          <a:prstGeom prst="rect">
            <a:avLst/>
          </a:prstGeom>
          <a:noFill/>
        </p:spPr>
        <p:txBody>
          <a:bodyPr wrap="square" rtlCol="0">
            <a:spAutoFit/>
          </a:bodyPr>
          <a:lstStyle/>
          <a:p>
            <a:r>
              <a:rPr lang="en-US" b="1" dirty="0"/>
              <a:t>AICTE STU ID : STU6a1bc6d73de001780205271</a:t>
            </a:r>
          </a:p>
        </p:txBody>
      </p:sp>
    </p:spTree>
    <p:extLst>
      <p:ext uri="{BB962C8B-B14F-4D97-AF65-F5344CB8AC3E}">
        <p14:creationId xmlns:p14="http://schemas.microsoft.com/office/powerpoint/2010/main" val="1604013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lnSpcReduction="10000"/>
          </a:bodyPr>
          <a:lstStyle/>
          <a:p>
            <a:r>
              <a:rPr lang="en-US" sz="2800" dirty="0"/>
              <a:t>To analyze and compare agricultural performance across different seasons by studying yield, production, environmental conditions, resource usage, economic outcomes, and regional patterns, and to derive insights for better seasonal agricultural planning.</a:t>
            </a:r>
            <a:endParaRPr lang="en-IN" sz="2800" dirty="0"/>
          </a:p>
          <a:p>
            <a:pPr>
              <a:lnSpc>
                <a:spcPct val="10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1892040" y="58764"/>
            <a:ext cx="6276109" cy="830997"/>
          </a:xfrm>
        </p:spPr>
        <p:txBody>
          <a:bodyPr>
            <a:normAutofit fontScale="90000"/>
          </a:bodyPr>
          <a:lstStyle/>
          <a:p>
            <a:pPr algn="ctr"/>
            <a:r>
              <a:rPr lang="en-GB" dirty="0"/>
              <a:t>Project Description</a:t>
            </a:r>
            <a:br>
              <a:rPr lang="en-GB" dirty="0"/>
            </a:br>
            <a:br>
              <a:rPr lang="en-GB" dirty="0"/>
            </a:br>
            <a:r>
              <a:rPr lang="en-US" sz="1900" dirty="0"/>
              <a:t>Seasonal Agriculture Performance Analysis is a data analytics project that analyzes agricultural performance across Kharif, Rabi, and Zaid seasons. The project uses agricultural data containing information about crops, regions, environmental conditions, farming practices, resource usage, production, yield, and economic outcomes.</a:t>
            </a:r>
            <a:br>
              <a:rPr lang="en-US" sz="1900" dirty="0"/>
            </a:br>
            <a:r>
              <a:rPr lang="en-US" sz="1900" dirty="0"/>
              <a:t>The analysis involves data cleaning, exploratory data analysis, statistical analysis, and data visualization using Python. The project compares seasonal differences in yield, production, revenue, cost, profit, rainfall, temperature, water usage, fertilizer and pesticide usage, and irrigation methods.</a:t>
            </a:r>
            <a:br>
              <a:rPr lang="en-US" sz="1900" dirty="0"/>
            </a:br>
            <a:r>
              <a:rPr lang="en-US" sz="1900" dirty="0"/>
              <a:t>It also examines relationships between environmental conditions and agricultural yield, compares seasonal performance across different states, and identifies unusual patterns and variations in the data.</a:t>
            </a:r>
            <a:br>
              <a:rPr lang="en-US" sz="1900" dirty="0"/>
            </a:br>
            <a:r>
              <a:rPr lang="en-US" sz="1900" dirty="0"/>
              <a:t>The findings are used to identify the best-performing seasons, resource-efficiency patterns, economic differences, and regional variations, and to provide insights that can support better seasonal agricultural planning and decision-making.</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55000" lnSpcReduction="20000"/>
          </a:bodyPr>
          <a:lstStyle/>
          <a:p>
            <a:r>
              <a:rPr lang="en-US" sz="3600" dirty="0"/>
              <a:t>The main end users of this project are:</a:t>
            </a:r>
          </a:p>
          <a:p>
            <a:pPr lvl="0"/>
            <a:r>
              <a:rPr lang="en-US" sz="3600" b="1" dirty="0"/>
              <a:t>Farmers</a:t>
            </a:r>
            <a:r>
              <a:rPr lang="en-US" sz="3600" dirty="0"/>
              <a:t> – to understand seasonal crop performance, resource usage, and profitability. </a:t>
            </a:r>
          </a:p>
          <a:p>
            <a:pPr lvl="0"/>
            <a:r>
              <a:rPr lang="en-US" sz="3600" b="1" dirty="0"/>
              <a:t>Agricultural Planners</a:t>
            </a:r>
            <a:r>
              <a:rPr lang="en-US" sz="3600" dirty="0"/>
              <a:t> – to support better seasonal crop and resource planning. </a:t>
            </a:r>
          </a:p>
          <a:p>
            <a:pPr lvl="0"/>
            <a:r>
              <a:rPr lang="en-US" sz="3600" b="1" dirty="0"/>
              <a:t>Government &amp; Agricultural Departments</a:t>
            </a:r>
            <a:r>
              <a:rPr lang="en-US" sz="3600" dirty="0"/>
              <a:t> – to understand regional and seasonal agricultural patterns for planning and decision-making. </a:t>
            </a:r>
          </a:p>
          <a:p>
            <a:pPr lvl="0"/>
            <a:r>
              <a:rPr lang="en-US" sz="3600" b="1" dirty="0"/>
              <a:t>Data Analysts &amp; Researchers</a:t>
            </a:r>
            <a:r>
              <a:rPr lang="en-US" sz="3600" dirty="0"/>
              <a:t> – to analyze agricultural trends, relationships, and performance. </a:t>
            </a:r>
          </a:p>
          <a:p>
            <a:pPr lvl="0"/>
            <a:r>
              <a:rPr lang="en-US" sz="3600" b="1" dirty="0"/>
              <a:t>Agribusiness &amp; Farming Organizations</a:t>
            </a:r>
            <a:r>
              <a:rPr lang="en-US" sz="3600" dirty="0"/>
              <a:t> – to evaluate production, costs, revenue, and profit across seasons.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582149" y="1315059"/>
            <a:ext cx="9027702" cy="5243448"/>
          </a:xfrm>
        </p:spPr>
        <p:txBody>
          <a:bodyPr/>
          <a:lstStyle/>
          <a:p>
            <a:pPr lvl="0"/>
            <a:r>
              <a:rPr lang="en-US" b="1" dirty="0"/>
              <a:t>Python</a:t>
            </a:r>
            <a:r>
              <a:rPr lang="en-US" dirty="0"/>
              <a:t> – Data analysis and processing </a:t>
            </a:r>
          </a:p>
          <a:p>
            <a:pPr lvl="0"/>
            <a:r>
              <a:rPr lang="en-US" b="1" dirty="0"/>
              <a:t>Pandas</a:t>
            </a:r>
            <a:r>
              <a:rPr lang="en-US" dirty="0"/>
              <a:t> – Data cleaning, manipulation, and analysis </a:t>
            </a:r>
          </a:p>
          <a:p>
            <a:pPr lvl="0"/>
            <a:r>
              <a:rPr lang="en-US" b="1" dirty="0"/>
              <a:t>NumPy</a:t>
            </a:r>
            <a:r>
              <a:rPr lang="en-US" dirty="0"/>
              <a:t> – Numerical calculations </a:t>
            </a:r>
          </a:p>
          <a:p>
            <a:pPr lvl="0"/>
            <a:r>
              <a:rPr lang="en-US" b="1" dirty="0"/>
              <a:t>Matplotlib</a:t>
            </a:r>
            <a:r>
              <a:rPr lang="en-US" dirty="0"/>
              <a:t> – Data visualization </a:t>
            </a:r>
          </a:p>
          <a:p>
            <a:pPr lvl="0"/>
            <a:r>
              <a:rPr lang="en-US" b="1" dirty="0"/>
              <a:t>Seaborn</a:t>
            </a:r>
            <a:r>
              <a:rPr lang="en-US" dirty="0"/>
              <a:t> – Statistical graphs and visualizations </a:t>
            </a:r>
          </a:p>
          <a:p>
            <a:pPr lvl="0"/>
            <a:r>
              <a:rPr lang="en-US" b="1" dirty="0"/>
              <a:t>Jupyter Notebook / Google </a:t>
            </a:r>
            <a:r>
              <a:rPr lang="en-US" b="1" dirty="0" err="1"/>
              <a:t>Colab</a:t>
            </a:r>
            <a:r>
              <a:rPr lang="en-US" dirty="0"/>
              <a:t> – Developing and documenting the analysis </a:t>
            </a:r>
          </a:p>
          <a:p>
            <a:pPr lvl="0"/>
            <a:r>
              <a:rPr lang="en-US" b="1" dirty="0"/>
              <a:t>Microsoft Excel (.xlsx)</a:t>
            </a:r>
            <a:r>
              <a:rPr lang="en-US" dirty="0"/>
              <a:t> – Dataset storage and input </a:t>
            </a:r>
          </a:p>
          <a:p>
            <a:pPr lvl="0"/>
            <a:r>
              <a:rPr lang="en-US" b="1" dirty="0"/>
              <a:t>GitHub</a:t>
            </a:r>
            <a:r>
              <a:rPr lang="en-US" dirty="0"/>
              <a:t> – Project version control and hosting</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2087983" y="181992"/>
            <a:ext cx="5306291" cy="847817"/>
          </a:xfrm>
        </p:spPr>
        <p:txBody>
          <a:bodyPr>
            <a:normAutofit/>
          </a:bodyPr>
          <a:lstStyle/>
          <a:p>
            <a:pPr algn="ctr"/>
            <a:r>
              <a:rPr lang="en-US" dirty="0"/>
              <a:t>Technology Used</a:t>
            </a:r>
          </a:p>
        </p:txBody>
      </p:sp>
    </p:spTree>
    <p:extLst>
      <p:ext uri="{BB962C8B-B14F-4D97-AF65-F5344CB8AC3E}">
        <p14:creationId xmlns:p14="http://schemas.microsoft.com/office/powerpoint/2010/main" val="1341901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E7D00C2C-4352-4167-D93E-E6111A0BD1EA}"/>
              </a:ext>
            </a:extLst>
          </p:cNvPr>
          <p:cNvSpPr txBox="1"/>
          <p:nvPr/>
        </p:nvSpPr>
        <p:spPr>
          <a:xfrm>
            <a:off x="522514" y="1275371"/>
            <a:ext cx="8780105" cy="5632311"/>
          </a:xfrm>
          <a:prstGeom prst="rect">
            <a:avLst/>
          </a:prstGeom>
          <a:noFill/>
        </p:spPr>
        <p:txBody>
          <a:bodyPr wrap="square" rtlCol="0">
            <a:spAutoFit/>
          </a:bodyPr>
          <a:lstStyle/>
          <a:p>
            <a:r>
              <a:rPr lang="en-US" dirty="0"/>
              <a:t>The analysis of agricultural data across Kharif, Rabi, and Zaid seasons produced the following key results:</a:t>
            </a:r>
          </a:p>
          <a:p>
            <a:pPr lvl="0"/>
            <a:r>
              <a:rPr lang="en-US" b="1" dirty="0"/>
              <a:t>Kharif</a:t>
            </a:r>
            <a:r>
              <a:rPr lang="en-US" dirty="0"/>
              <a:t> showed the </a:t>
            </a:r>
            <a:r>
              <a:rPr lang="en-US" b="1" dirty="0"/>
              <a:t>highest average yield (5.64 </a:t>
            </a:r>
            <a:r>
              <a:rPr lang="en-US" b="1" dirty="0" err="1"/>
              <a:t>tonnes</a:t>
            </a:r>
            <a:r>
              <a:rPr lang="en-US" b="1" dirty="0"/>
              <a:t>/ha)</a:t>
            </a:r>
            <a:r>
              <a:rPr lang="en-US" dirty="0"/>
              <a:t>, production (</a:t>
            </a:r>
            <a:r>
              <a:rPr lang="en-US" b="1" dirty="0"/>
              <a:t>46.31 </a:t>
            </a:r>
            <a:r>
              <a:rPr lang="en-US" b="1" dirty="0" err="1"/>
              <a:t>tonnes</a:t>
            </a:r>
            <a:r>
              <a:rPr lang="en-US" dirty="0"/>
              <a:t>), revenue (</a:t>
            </a:r>
            <a:r>
              <a:rPr lang="en-US" b="1" dirty="0"/>
              <a:t>₹7.11 lakh</a:t>
            </a:r>
            <a:r>
              <a:rPr lang="en-US" dirty="0"/>
              <a:t>), and profit (</a:t>
            </a:r>
            <a:r>
              <a:rPr lang="en-US" b="1" dirty="0"/>
              <a:t>₹1.79 lakh</a:t>
            </a:r>
            <a:r>
              <a:rPr lang="en-US" dirty="0"/>
              <a:t>). </a:t>
            </a:r>
          </a:p>
          <a:p>
            <a:pPr lvl="0"/>
            <a:r>
              <a:rPr lang="en-US" b="1" dirty="0"/>
              <a:t>Rabi</a:t>
            </a:r>
            <a:r>
              <a:rPr lang="en-US" dirty="0"/>
              <a:t> showed moderate performance with an average yield of </a:t>
            </a:r>
            <a:r>
              <a:rPr lang="en-US" b="1" dirty="0"/>
              <a:t>5.08 </a:t>
            </a:r>
            <a:r>
              <a:rPr lang="en-US" b="1" dirty="0" err="1"/>
              <a:t>tonnes</a:t>
            </a:r>
            <a:r>
              <a:rPr lang="en-US" b="1" dirty="0"/>
              <a:t>/ha</a:t>
            </a:r>
            <a:r>
              <a:rPr lang="en-US" dirty="0"/>
              <a:t> and profit of </a:t>
            </a:r>
            <a:r>
              <a:rPr lang="en-US" b="1" dirty="0"/>
              <a:t>₹87,689</a:t>
            </a:r>
            <a:r>
              <a:rPr lang="en-US" dirty="0"/>
              <a:t>. </a:t>
            </a:r>
          </a:p>
          <a:p>
            <a:pPr lvl="0"/>
            <a:r>
              <a:rPr lang="en-US" b="1" dirty="0"/>
              <a:t>Zaid</a:t>
            </a:r>
            <a:r>
              <a:rPr lang="en-US" dirty="0"/>
              <a:t> had the </a:t>
            </a:r>
            <a:r>
              <a:rPr lang="en-US" b="1" dirty="0"/>
              <a:t>lowest average yield (4.67 </a:t>
            </a:r>
            <a:r>
              <a:rPr lang="en-US" b="1" dirty="0" err="1"/>
              <a:t>tonnes</a:t>
            </a:r>
            <a:r>
              <a:rPr lang="en-US" b="1" dirty="0"/>
              <a:t>/ha)</a:t>
            </a:r>
            <a:r>
              <a:rPr lang="en-US" dirty="0"/>
              <a:t> and recorded an </a:t>
            </a:r>
            <a:r>
              <a:rPr lang="en-US" b="1" dirty="0"/>
              <a:t>average loss of ₹24,805</a:t>
            </a:r>
            <a:r>
              <a:rPr lang="en-US" dirty="0"/>
              <a:t>. </a:t>
            </a:r>
          </a:p>
          <a:p>
            <a:pPr lvl="0"/>
            <a:r>
              <a:rPr lang="en-US" b="1" dirty="0"/>
              <a:t>Kharif</a:t>
            </a:r>
            <a:r>
              <a:rPr lang="en-US" dirty="0"/>
              <a:t> received the highest average rainfall (</a:t>
            </a:r>
            <a:r>
              <a:rPr lang="en-US" b="1" dirty="0"/>
              <a:t>852.08 mm</a:t>
            </a:r>
            <a:r>
              <a:rPr lang="en-US" dirty="0"/>
              <a:t>) and humidity (</a:t>
            </a:r>
            <a:r>
              <a:rPr lang="en-US" b="1" dirty="0"/>
              <a:t>71.81%</a:t>
            </a:r>
            <a:r>
              <a:rPr lang="en-US" dirty="0"/>
              <a:t>). </a:t>
            </a:r>
          </a:p>
          <a:p>
            <a:pPr lvl="0"/>
            <a:r>
              <a:rPr lang="en-US" b="1" dirty="0"/>
              <a:t>Zaid</a:t>
            </a:r>
            <a:r>
              <a:rPr lang="en-US" dirty="0"/>
              <a:t> had the highest average temperature (</a:t>
            </a:r>
            <a:r>
              <a:rPr lang="en-US" b="1" dirty="0"/>
              <a:t>31.04°C</a:t>
            </a:r>
            <a:r>
              <a:rPr lang="en-US" dirty="0"/>
              <a:t>), sunlight (</a:t>
            </a:r>
            <a:r>
              <a:rPr lang="en-US" b="1" dirty="0"/>
              <a:t>8.18 hours/day</a:t>
            </a:r>
            <a:r>
              <a:rPr lang="en-US" dirty="0"/>
              <a:t>), and water usage (</a:t>
            </a:r>
            <a:r>
              <a:rPr lang="en-US" b="1" dirty="0"/>
              <a:t>6,419.89 m³</a:t>
            </a:r>
            <a:r>
              <a:rPr lang="en-US" dirty="0"/>
              <a:t>). </a:t>
            </a:r>
          </a:p>
          <a:p>
            <a:pPr lvl="0"/>
            <a:r>
              <a:rPr lang="en-US" b="1" dirty="0"/>
              <a:t>Kharif</a:t>
            </a:r>
            <a:r>
              <a:rPr lang="en-US" dirty="0"/>
              <a:t> had the highest water efficiency (</a:t>
            </a:r>
            <a:r>
              <a:rPr lang="en-US" b="1" dirty="0"/>
              <a:t>5.89 </a:t>
            </a:r>
            <a:r>
              <a:rPr lang="en-US" b="1" dirty="0" err="1"/>
              <a:t>tonnes</a:t>
            </a:r>
            <a:r>
              <a:rPr lang="en-US" b="1" dirty="0"/>
              <a:t>/1,000 m³</a:t>
            </a:r>
            <a:r>
              <a:rPr lang="en-US" dirty="0"/>
              <a:t>), while Zaid had the lowest (</a:t>
            </a:r>
            <a:r>
              <a:rPr lang="en-US" b="1" dirty="0"/>
              <a:t>4.41</a:t>
            </a:r>
            <a:r>
              <a:rPr lang="en-US" dirty="0"/>
              <a:t>). </a:t>
            </a:r>
          </a:p>
          <a:p>
            <a:pPr lvl="0"/>
            <a:r>
              <a:rPr lang="en-US" dirty="0"/>
              <a:t>Environmental variables individually showed </a:t>
            </a:r>
            <a:r>
              <a:rPr lang="en-US" b="1" dirty="0"/>
              <a:t>very weak linear correlation with yield</a:t>
            </a:r>
            <a:r>
              <a:rPr lang="en-US" dirty="0"/>
              <a:t> in this dataset. </a:t>
            </a:r>
          </a:p>
          <a:p>
            <a:pPr lvl="0"/>
            <a:r>
              <a:rPr lang="en-US" dirty="0"/>
              <a:t>Seasonal performance </a:t>
            </a:r>
            <a:r>
              <a:rPr lang="en-US" b="1" dirty="0"/>
              <a:t>varied across states</a:t>
            </a:r>
            <a:r>
              <a:rPr lang="en-US" dirty="0"/>
              <a:t>; there was no single season that performed best in every state. </a:t>
            </a:r>
          </a:p>
          <a:p>
            <a:pPr lvl="0"/>
            <a:r>
              <a:rPr lang="en-US" dirty="0"/>
              <a:t>Some </a:t>
            </a:r>
            <a:r>
              <a:rPr lang="en-US" b="1" dirty="0"/>
              <a:t>unusual high-yield observations/outliers</a:t>
            </a:r>
            <a:r>
              <a:rPr lang="en-US" dirty="0"/>
              <a:t> were found, particularly in Kharif and Rabi.</a:t>
            </a:r>
          </a:p>
          <a:p>
            <a:endParaRPr lang="en-US" dirty="0"/>
          </a:p>
        </p:txBody>
      </p:sp>
    </p:spTree>
    <p:extLst>
      <p:ext uri="{BB962C8B-B14F-4D97-AF65-F5344CB8AC3E}">
        <p14:creationId xmlns:p14="http://schemas.microsoft.com/office/powerpoint/2010/main" val="108622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6763772E-ACE8-70FE-A6D4-EA2A178133F0}"/>
              </a:ext>
            </a:extLst>
          </p:cNvPr>
          <p:cNvPicPr>
            <a:picLocks noChangeAspect="1"/>
          </p:cNvPicPr>
          <p:nvPr/>
        </p:nvPicPr>
        <p:blipFill>
          <a:blip r:embed="rId3"/>
          <a:stretch>
            <a:fillRect/>
          </a:stretch>
        </p:blipFill>
        <p:spPr>
          <a:xfrm>
            <a:off x="715815" y="1275371"/>
            <a:ext cx="5629002" cy="4150936"/>
          </a:xfrm>
          <a:prstGeom prst="rect">
            <a:avLst/>
          </a:prstGeom>
        </p:spPr>
      </p:pic>
      <p:pic>
        <p:nvPicPr>
          <p:cNvPr id="9" name="Picture 8">
            <a:extLst>
              <a:ext uri="{FF2B5EF4-FFF2-40B4-BE49-F238E27FC236}">
                <a16:creationId xmlns:a16="http://schemas.microsoft.com/office/drawing/2014/main" id="{08F084B0-15CF-8FD3-E1D1-FCEFAF3D0378}"/>
              </a:ext>
            </a:extLst>
          </p:cNvPr>
          <p:cNvPicPr>
            <a:picLocks noChangeAspect="1"/>
          </p:cNvPicPr>
          <p:nvPr/>
        </p:nvPicPr>
        <p:blipFill>
          <a:blip r:embed="rId4"/>
          <a:stretch>
            <a:fillRect/>
          </a:stretch>
        </p:blipFill>
        <p:spPr>
          <a:xfrm>
            <a:off x="6436166" y="1321455"/>
            <a:ext cx="5434852" cy="4104852"/>
          </a:xfrm>
          <a:prstGeom prst="rect">
            <a:avLst/>
          </a:prstGeom>
        </p:spPr>
      </p:pic>
    </p:spTree>
    <p:extLst>
      <p:ext uri="{BB962C8B-B14F-4D97-AF65-F5344CB8AC3E}">
        <p14:creationId xmlns:p14="http://schemas.microsoft.com/office/powerpoint/2010/main" val="384962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B96B8C8E-3645-E7BF-7E12-A126C8D80990}"/>
              </a:ext>
            </a:extLst>
          </p:cNvPr>
          <p:cNvPicPr>
            <a:picLocks noChangeAspect="1"/>
          </p:cNvPicPr>
          <p:nvPr/>
        </p:nvPicPr>
        <p:blipFill>
          <a:blip r:embed="rId3"/>
          <a:stretch>
            <a:fillRect/>
          </a:stretch>
        </p:blipFill>
        <p:spPr>
          <a:xfrm>
            <a:off x="190190" y="1275371"/>
            <a:ext cx="5257783" cy="4973408"/>
          </a:xfrm>
          <a:prstGeom prst="rect">
            <a:avLst/>
          </a:prstGeom>
        </p:spPr>
      </p:pic>
      <p:pic>
        <p:nvPicPr>
          <p:cNvPr id="9" name="Picture 8">
            <a:extLst>
              <a:ext uri="{FF2B5EF4-FFF2-40B4-BE49-F238E27FC236}">
                <a16:creationId xmlns:a16="http://schemas.microsoft.com/office/drawing/2014/main" id="{7CCDAAB1-BAF3-7455-F7D5-43DE619702C1}"/>
              </a:ext>
            </a:extLst>
          </p:cNvPr>
          <p:cNvPicPr>
            <a:picLocks noChangeAspect="1"/>
          </p:cNvPicPr>
          <p:nvPr/>
        </p:nvPicPr>
        <p:blipFill>
          <a:blip r:embed="rId4"/>
          <a:stretch>
            <a:fillRect/>
          </a:stretch>
        </p:blipFill>
        <p:spPr>
          <a:xfrm>
            <a:off x="6129124" y="1558496"/>
            <a:ext cx="5078688" cy="4690283"/>
          </a:xfrm>
          <a:prstGeom prst="rect">
            <a:avLst/>
          </a:prstGeom>
        </p:spPr>
      </p:pic>
    </p:spTree>
    <p:extLst>
      <p:ext uri="{BB962C8B-B14F-4D97-AF65-F5344CB8AC3E}">
        <p14:creationId xmlns:p14="http://schemas.microsoft.com/office/powerpoint/2010/main" val="169890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EA029885-19A1-3394-ECDD-B24642296462}"/>
              </a:ext>
            </a:extLst>
          </p:cNvPr>
          <p:cNvPicPr>
            <a:picLocks noChangeAspect="1"/>
          </p:cNvPicPr>
          <p:nvPr/>
        </p:nvPicPr>
        <p:blipFill>
          <a:blip r:embed="rId3"/>
          <a:stretch>
            <a:fillRect/>
          </a:stretch>
        </p:blipFill>
        <p:spPr>
          <a:xfrm>
            <a:off x="647229" y="2015235"/>
            <a:ext cx="5448772" cy="4301590"/>
          </a:xfrm>
          <a:prstGeom prst="rect">
            <a:avLst/>
          </a:prstGeom>
        </p:spPr>
      </p:pic>
      <p:pic>
        <p:nvPicPr>
          <p:cNvPr id="9" name="Picture 8">
            <a:extLst>
              <a:ext uri="{FF2B5EF4-FFF2-40B4-BE49-F238E27FC236}">
                <a16:creationId xmlns:a16="http://schemas.microsoft.com/office/drawing/2014/main" id="{741F65F8-049C-F56C-4B9F-13CA66C68E4D}"/>
              </a:ext>
            </a:extLst>
          </p:cNvPr>
          <p:cNvPicPr>
            <a:picLocks noChangeAspect="1"/>
          </p:cNvPicPr>
          <p:nvPr/>
        </p:nvPicPr>
        <p:blipFill>
          <a:blip r:embed="rId4"/>
          <a:stretch>
            <a:fillRect/>
          </a:stretch>
        </p:blipFill>
        <p:spPr>
          <a:xfrm>
            <a:off x="5763453" y="1538804"/>
            <a:ext cx="5928874" cy="5029636"/>
          </a:xfrm>
          <a:prstGeom prst="rect">
            <a:avLst/>
          </a:prstGeom>
        </p:spPr>
      </p:pic>
    </p:spTree>
    <p:extLst>
      <p:ext uri="{BB962C8B-B14F-4D97-AF65-F5344CB8AC3E}">
        <p14:creationId xmlns:p14="http://schemas.microsoft.com/office/powerpoint/2010/main" val="190397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6C433A39-C714-7286-3543-5D8BBA657A4E}"/>
              </a:ext>
            </a:extLst>
          </p:cNvPr>
          <p:cNvPicPr>
            <a:picLocks noChangeAspect="1"/>
          </p:cNvPicPr>
          <p:nvPr/>
        </p:nvPicPr>
        <p:blipFill>
          <a:blip r:embed="rId3"/>
          <a:stretch>
            <a:fillRect/>
          </a:stretch>
        </p:blipFill>
        <p:spPr>
          <a:xfrm>
            <a:off x="0" y="1331821"/>
            <a:ext cx="6401334" cy="5526179"/>
          </a:xfrm>
          <a:prstGeom prst="rect">
            <a:avLst/>
          </a:prstGeom>
        </p:spPr>
      </p:pic>
      <p:pic>
        <p:nvPicPr>
          <p:cNvPr id="9" name="Picture 8">
            <a:extLst>
              <a:ext uri="{FF2B5EF4-FFF2-40B4-BE49-F238E27FC236}">
                <a16:creationId xmlns:a16="http://schemas.microsoft.com/office/drawing/2014/main" id="{03031DF6-C0EB-037C-25BC-9E42DBD8737E}"/>
              </a:ext>
            </a:extLst>
          </p:cNvPr>
          <p:cNvPicPr>
            <a:picLocks noChangeAspect="1"/>
          </p:cNvPicPr>
          <p:nvPr/>
        </p:nvPicPr>
        <p:blipFill>
          <a:blip r:embed="rId4"/>
          <a:stretch>
            <a:fillRect/>
          </a:stretch>
        </p:blipFill>
        <p:spPr>
          <a:xfrm>
            <a:off x="6017474" y="2695627"/>
            <a:ext cx="6142252" cy="3276884"/>
          </a:xfrm>
          <a:prstGeom prst="rect">
            <a:avLst/>
          </a:prstGeom>
        </p:spPr>
      </p:pic>
    </p:spTree>
    <p:extLst>
      <p:ext uri="{BB962C8B-B14F-4D97-AF65-F5344CB8AC3E}">
        <p14:creationId xmlns:p14="http://schemas.microsoft.com/office/powerpoint/2010/main" val="1421522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B04B6-4713-323B-C1A5-A7D7206CFD71}"/>
              </a:ext>
            </a:extLst>
          </p:cNvPr>
          <p:cNvSpPr>
            <a:spLocks noGrp="1"/>
          </p:cNvSpPr>
          <p:nvPr>
            <p:ph type="title"/>
          </p:nvPr>
        </p:nvSpPr>
        <p:spPr/>
        <p:txBody>
          <a:bodyPr/>
          <a:lstStyle/>
          <a:p>
            <a:r>
              <a:rPr lang="en-US" dirty="0">
                <a:solidFill>
                  <a:schemeClr val="tx1"/>
                </a:solidFill>
              </a:rPr>
              <a:t>Results</a:t>
            </a:r>
          </a:p>
        </p:txBody>
      </p:sp>
      <p:pic>
        <p:nvPicPr>
          <p:cNvPr id="8" name="Content Placeholder 7">
            <a:extLst>
              <a:ext uri="{FF2B5EF4-FFF2-40B4-BE49-F238E27FC236}">
                <a16:creationId xmlns:a16="http://schemas.microsoft.com/office/drawing/2014/main" id="{0FC25FA3-5458-9E90-AF06-45D34F1290C1}"/>
              </a:ext>
            </a:extLst>
          </p:cNvPr>
          <p:cNvPicPr>
            <a:picLocks noGrp="1" noChangeAspect="1"/>
          </p:cNvPicPr>
          <p:nvPr>
            <p:ph idx="1"/>
          </p:nvPr>
        </p:nvPicPr>
        <p:blipFill>
          <a:blip r:embed="rId2"/>
          <a:stretch>
            <a:fillRect/>
          </a:stretch>
        </p:blipFill>
        <p:spPr>
          <a:xfrm>
            <a:off x="5589036" y="1455576"/>
            <a:ext cx="6519509" cy="4788251"/>
          </a:xfrm>
          <a:prstGeom prst="rect">
            <a:avLst/>
          </a:prstGeom>
        </p:spPr>
      </p:pic>
      <p:sp>
        <p:nvSpPr>
          <p:cNvPr id="4" name="Slide Number Placeholder 3">
            <a:extLst>
              <a:ext uri="{FF2B5EF4-FFF2-40B4-BE49-F238E27FC236}">
                <a16:creationId xmlns:a16="http://schemas.microsoft.com/office/drawing/2014/main" id="{A868407E-7DD9-B0C1-5F8B-3951302A2134}"/>
              </a:ext>
            </a:extLst>
          </p:cNvPr>
          <p:cNvSpPr>
            <a:spLocks noGrp="1"/>
          </p:cNvSpPr>
          <p:nvPr>
            <p:ph type="sldNum" sz="quarter" idx="12"/>
          </p:nvPr>
        </p:nvSpPr>
        <p:spPr/>
        <p:txBody>
          <a:bodyPr/>
          <a:lstStyle/>
          <a:p>
            <a:fld id="{D57F1E4F-1CFF-5643-939E-217C01CDF565}" type="slidenum">
              <a:rPr lang="en-US" smtClean="0"/>
              <a:pPr/>
              <a:t>11</a:t>
            </a:fld>
            <a:endParaRPr lang="en-US" dirty="0"/>
          </a:p>
        </p:txBody>
      </p:sp>
      <p:pic>
        <p:nvPicPr>
          <p:cNvPr id="6" name="Picture 5">
            <a:extLst>
              <a:ext uri="{FF2B5EF4-FFF2-40B4-BE49-F238E27FC236}">
                <a16:creationId xmlns:a16="http://schemas.microsoft.com/office/drawing/2014/main" id="{F504D828-B0E4-B327-DB1C-EADBF32F875F}"/>
              </a:ext>
            </a:extLst>
          </p:cNvPr>
          <p:cNvPicPr>
            <a:picLocks noChangeAspect="1"/>
          </p:cNvPicPr>
          <p:nvPr/>
        </p:nvPicPr>
        <p:blipFill>
          <a:blip r:embed="rId3"/>
          <a:stretch>
            <a:fillRect/>
          </a:stretch>
        </p:blipFill>
        <p:spPr>
          <a:xfrm>
            <a:off x="270891" y="1455576"/>
            <a:ext cx="5607396" cy="4651407"/>
          </a:xfrm>
          <a:prstGeom prst="rect">
            <a:avLst/>
          </a:prstGeom>
        </p:spPr>
      </p:pic>
    </p:spTree>
    <p:extLst>
      <p:ext uri="{BB962C8B-B14F-4D97-AF65-F5344CB8AC3E}">
        <p14:creationId xmlns:p14="http://schemas.microsoft.com/office/powerpoint/2010/main" val="631565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74491-3BBF-B3CB-7457-8C0526258C98}"/>
              </a:ext>
            </a:extLst>
          </p:cNvPr>
          <p:cNvSpPr>
            <a:spLocks noGrp="1"/>
          </p:cNvSpPr>
          <p:nvPr>
            <p:ph type="title"/>
          </p:nvPr>
        </p:nvSpPr>
        <p:spPr/>
        <p:txBody>
          <a:bodyPr/>
          <a:lstStyle/>
          <a:p>
            <a:r>
              <a:rPr lang="en-US" dirty="0">
                <a:solidFill>
                  <a:schemeClr val="tx1"/>
                </a:solidFill>
              </a:rPr>
              <a:t>Results</a:t>
            </a:r>
          </a:p>
        </p:txBody>
      </p:sp>
      <p:sp>
        <p:nvSpPr>
          <p:cNvPr id="3" name="Slide Number Placeholder 2">
            <a:extLst>
              <a:ext uri="{FF2B5EF4-FFF2-40B4-BE49-F238E27FC236}">
                <a16:creationId xmlns:a16="http://schemas.microsoft.com/office/drawing/2014/main" id="{CFB88172-52A7-44A5-8CAD-DFAEA4E1226B}"/>
              </a:ext>
            </a:extLst>
          </p:cNvPr>
          <p:cNvSpPr>
            <a:spLocks noGrp="1"/>
          </p:cNvSpPr>
          <p:nvPr>
            <p:ph type="sldNum" sz="quarter" idx="12"/>
          </p:nvPr>
        </p:nvSpPr>
        <p:spPr/>
        <p:txBody>
          <a:bodyPr/>
          <a:lstStyle/>
          <a:p>
            <a:fld id="{D57F1E4F-1CFF-5643-939E-217C01CDF565}" type="slidenum">
              <a:rPr lang="en-US" smtClean="0"/>
              <a:pPr/>
              <a:t>12</a:t>
            </a:fld>
            <a:endParaRPr lang="en-US" dirty="0"/>
          </a:p>
        </p:txBody>
      </p:sp>
      <p:pic>
        <p:nvPicPr>
          <p:cNvPr id="5" name="Picture 4">
            <a:extLst>
              <a:ext uri="{FF2B5EF4-FFF2-40B4-BE49-F238E27FC236}">
                <a16:creationId xmlns:a16="http://schemas.microsoft.com/office/drawing/2014/main" id="{43BF5BFB-775C-34E9-BE83-92F1A018A7B3}"/>
              </a:ext>
            </a:extLst>
          </p:cNvPr>
          <p:cNvPicPr>
            <a:picLocks noChangeAspect="1"/>
          </p:cNvPicPr>
          <p:nvPr/>
        </p:nvPicPr>
        <p:blipFill>
          <a:blip r:embed="rId2"/>
          <a:stretch>
            <a:fillRect/>
          </a:stretch>
        </p:blipFill>
        <p:spPr>
          <a:xfrm>
            <a:off x="479233" y="1586204"/>
            <a:ext cx="5193780" cy="5022840"/>
          </a:xfrm>
          <a:prstGeom prst="rect">
            <a:avLst/>
          </a:prstGeom>
        </p:spPr>
      </p:pic>
      <p:pic>
        <p:nvPicPr>
          <p:cNvPr id="7" name="Picture 6">
            <a:extLst>
              <a:ext uri="{FF2B5EF4-FFF2-40B4-BE49-F238E27FC236}">
                <a16:creationId xmlns:a16="http://schemas.microsoft.com/office/drawing/2014/main" id="{128096D1-80C3-CB4E-5FCC-07B7EF19A5D4}"/>
              </a:ext>
            </a:extLst>
          </p:cNvPr>
          <p:cNvPicPr>
            <a:picLocks noChangeAspect="1"/>
          </p:cNvPicPr>
          <p:nvPr/>
        </p:nvPicPr>
        <p:blipFill>
          <a:blip r:embed="rId3"/>
          <a:stretch>
            <a:fillRect/>
          </a:stretch>
        </p:blipFill>
        <p:spPr>
          <a:xfrm>
            <a:off x="5795379" y="1586203"/>
            <a:ext cx="5056124" cy="5121883"/>
          </a:xfrm>
          <a:prstGeom prst="rect">
            <a:avLst/>
          </a:prstGeom>
        </p:spPr>
      </p:pic>
    </p:spTree>
    <p:extLst>
      <p:ext uri="{BB962C8B-B14F-4D97-AF65-F5344CB8AC3E}">
        <p14:creationId xmlns:p14="http://schemas.microsoft.com/office/powerpoint/2010/main" val="33590233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3D355-BA25-6544-206A-4787F876B141}"/>
              </a:ext>
            </a:extLst>
          </p:cNvPr>
          <p:cNvSpPr>
            <a:spLocks noGrp="1"/>
          </p:cNvSpPr>
          <p:nvPr>
            <p:ph type="title"/>
          </p:nvPr>
        </p:nvSpPr>
        <p:spPr/>
        <p:txBody>
          <a:bodyPr/>
          <a:lstStyle/>
          <a:p>
            <a:r>
              <a:rPr lang="en-US" dirty="0">
                <a:solidFill>
                  <a:schemeClr val="tx1"/>
                </a:solidFill>
              </a:rPr>
              <a:t>Results</a:t>
            </a:r>
          </a:p>
        </p:txBody>
      </p:sp>
      <p:sp>
        <p:nvSpPr>
          <p:cNvPr id="3" name="Slide Number Placeholder 2">
            <a:extLst>
              <a:ext uri="{FF2B5EF4-FFF2-40B4-BE49-F238E27FC236}">
                <a16:creationId xmlns:a16="http://schemas.microsoft.com/office/drawing/2014/main" id="{E25B7AA0-B84A-0C7D-E17D-F14C558B5790}"/>
              </a:ext>
            </a:extLst>
          </p:cNvPr>
          <p:cNvSpPr>
            <a:spLocks noGrp="1"/>
          </p:cNvSpPr>
          <p:nvPr>
            <p:ph type="sldNum" sz="quarter" idx="12"/>
          </p:nvPr>
        </p:nvSpPr>
        <p:spPr/>
        <p:txBody>
          <a:bodyPr/>
          <a:lstStyle/>
          <a:p>
            <a:fld id="{D57F1E4F-1CFF-5643-939E-217C01CDF565}" type="slidenum">
              <a:rPr lang="en-US" smtClean="0"/>
              <a:pPr/>
              <a:t>13</a:t>
            </a:fld>
            <a:endParaRPr lang="en-US" dirty="0"/>
          </a:p>
        </p:txBody>
      </p:sp>
      <p:pic>
        <p:nvPicPr>
          <p:cNvPr id="5" name="Picture 4">
            <a:extLst>
              <a:ext uri="{FF2B5EF4-FFF2-40B4-BE49-F238E27FC236}">
                <a16:creationId xmlns:a16="http://schemas.microsoft.com/office/drawing/2014/main" id="{46EA0283-30F5-43B2-F9B1-348B5693CEB1}"/>
              </a:ext>
            </a:extLst>
          </p:cNvPr>
          <p:cNvPicPr>
            <a:picLocks noChangeAspect="1"/>
          </p:cNvPicPr>
          <p:nvPr/>
        </p:nvPicPr>
        <p:blipFill>
          <a:blip r:embed="rId2"/>
          <a:stretch>
            <a:fillRect/>
          </a:stretch>
        </p:blipFill>
        <p:spPr>
          <a:xfrm>
            <a:off x="677334" y="1428453"/>
            <a:ext cx="4852560" cy="4795471"/>
          </a:xfrm>
          <a:prstGeom prst="rect">
            <a:avLst/>
          </a:prstGeom>
        </p:spPr>
      </p:pic>
      <p:pic>
        <p:nvPicPr>
          <p:cNvPr id="7" name="Picture 6">
            <a:extLst>
              <a:ext uri="{FF2B5EF4-FFF2-40B4-BE49-F238E27FC236}">
                <a16:creationId xmlns:a16="http://schemas.microsoft.com/office/drawing/2014/main" id="{672ABA57-D9D1-99C1-D03A-0F06CA7A9812}"/>
              </a:ext>
            </a:extLst>
          </p:cNvPr>
          <p:cNvPicPr>
            <a:picLocks noChangeAspect="1"/>
          </p:cNvPicPr>
          <p:nvPr/>
        </p:nvPicPr>
        <p:blipFill>
          <a:blip r:embed="rId3"/>
          <a:stretch>
            <a:fillRect/>
          </a:stretch>
        </p:blipFill>
        <p:spPr>
          <a:xfrm>
            <a:off x="5529894" y="1428453"/>
            <a:ext cx="6180356" cy="3962743"/>
          </a:xfrm>
          <a:prstGeom prst="rect">
            <a:avLst/>
          </a:prstGeom>
        </p:spPr>
      </p:pic>
    </p:spTree>
    <p:extLst>
      <p:ext uri="{BB962C8B-B14F-4D97-AF65-F5344CB8AC3E}">
        <p14:creationId xmlns:p14="http://schemas.microsoft.com/office/powerpoint/2010/main" val="623545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4A59C-4CC5-0D61-3BAA-7CCFAAE4BD73}"/>
              </a:ext>
            </a:extLst>
          </p:cNvPr>
          <p:cNvSpPr>
            <a:spLocks noGrp="1"/>
          </p:cNvSpPr>
          <p:nvPr>
            <p:ph type="title"/>
          </p:nvPr>
        </p:nvSpPr>
        <p:spPr/>
        <p:txBody>
          <a:bodyPr/>
          <a:lstStyle/>
          <a:p>
            <a:r>
              <a:rPr lang="en-US" dirty="0">
                <a:solidFill>
                  <a:schemeClr val="tx1"/>
                </a:solidFill>
              </a:rPr>
              <a:t>Results</a:t>
            </a:r>
          </a:p>
        </p:txBody>
      </p:sp>
      <p:sp>
        <p:nvSpPr>
          <p:cNvPr id="3" name="Slide Number Placeholder 2">
            <a:extLst>
              <a:ext uri="{FF2B5EF4-FFF2-40B4-BE49-F238E27FC236}">
                <a16:creationId xmlns:a16="http://schemas.microsoft.com/office/drawing/2014/main" id="{57500FAD-EA32-D5E4-601B-F8100229A166}"/>
              </a:ext>
            </a:extLst>
          </p:cNvPr>
          <p:cNvSpPr>
            <a:spLocks noGrp="1"/>
          </p:cNvSpPr>
          <p:nvPr>
            <p:ph type="sldNum" sz="quarter" idx="12"/>
          </p:nvPr>
        </p:nvSpPr>
        <p:spPr/>
        <p:txBody>
          <a:bodyPr/>
          <a:lstStyle/>
          <a:p>
            <a:fld id="{D57F1E4F-1CFF-5643-939E-217C01CDF565}" type="slidenum">
              <a:rPr lang="en-US" smtClean="0"/>
              <a:pPr/>
              <a:t>14</a:t>
            </a:fld>
            <a:endParaRPr lang="en-US" dirty="0"/>
          </a:p>
        </p:txBody>
      </p:sp>
      <p:pic>
        <p:nvPicPr>
          <p:cNvPr id="5" name="Picture 4">
            <a:extLst>
              <a:ext uri="{FF2B5EF4-FFF2-40B4-BE49-F238E27FC236}">
                <a16:creationId xmlns:a16="http://schemas.microsoft.com/office/drawing/2014/main" id="{D0EE6C95-26B3-D485-29F6-699D0152DA47}"/>
              </a:ext>
            </a:extLst>
          </p:cNvPr>
          <p:cNvPicPr>
            <a:picLocks noChangeAspect="1"/>
          </p:cNvPicPr>
          <p:nvPr/>
        </p:nvPicPr>
        <p:blipFill>
          <a:blip r:embed="rId2"/>
          <a:stretch>
            <a:fillRect/>
          </a:stretch>
        </p:blipFill>
        <p:spPr>
          <a:xfrm>
            <a:off x="544162" y="1270000"/>
            <a:ext cx="4747671" cy="2606266"/>
          </a:xfrm>
          <a:prstGeom prst="rect">
            <a:avLst/>
          </a:prstGeom>
        </p:spPr>
      </p:pic>
      <p:pic>
        <p:nvPicPr>
          <p:cNvPr id="7" name="Picture 6">
            <a:extLst>
              <a:ext uri="{FF2B5EF4-FFF2-40B4-BE49-F238E27FC236}">
                <a16:creationId xmlns:a16="http://schemas.microsoft.com/office/drawing/2014/main" id="{6A2DF822-AD4F-C8C5-08B3-8198658A799E}"/>
              </a:ext>
            </a:extLst>
          </p:cNvPr>
          <p:cNvPicPr>
            <a:picLocks noChangeAspect="1"/>
          </p:cNvPicPr>
          <p:nvPr/>
        </p:nvPicPr>
        <p:blipFill>
          <a:blip r:embed="rId3"/>
          <a:stretch>
            <a:fillRect/>
          </a:stretch>
        </p:blipFill>
        <p:spPr>
          <a:xfrm>
            <a:off x="544162" y="3876266"/>
            <a:ext cx="4747671" cy="2476715"/>
          </a:xfrm>
          <a:prstGeom prst="rect">
            <a:avLst/>
          </a:prstGeom>
        </p:spPr>
      </p:pic>
      <p:pic>
        <p:nvPicPr>
          <p:cNvPr id="9" name="Picture 8">
            <a:extLst>
              <a:ext uri="{FF2B5EF4-FFF2-40B4-BE49-F238E27FC236}">
                <a16:creationId xmlns:a16="http://schemas.microsoft.com/office/drawing/2014/main" id="{7BFEE0AE-7793-E0EF-3C0A-0E4EA79793BA}"/>
              </a:ext>
            </a:extLst>
          </p:cNvPr>
          <p:cNvPicPr>
            <a:picLocks noChangeAspect="1"/>
          </p:cNvPicPr>
          <p:nvPr/>
        </p:nvPicPr>
        <p:blipFill>
          <a:blip r:embed="rId4"/>
          <a:stretch>
            <a:fillRect/>
          </a:stretch>
        </p:blipFill>
        <p:spPr>
          <a:xfrm>
            <a:off x="5078304" y="1270000"/>
            <a:ext cx="5549263" cy="2858934"/>
          </a:xfrm>
          <a:prstGeom prst="rect">
            <a:avLst/>
          </a:prstGeom>
        </p:spPr>
      </p:pic>
      <p:pic>
        <p:nvPicPr>
          <p:cNvPr id="11" name="Picture 10">
            <a:extLst>
              <a:ext uri="{FF2B5EF4-FFF2-40B4-BE49-F238E27FC236}">
                <a16:creationId xmlns:a16="http://schemas.microsoft.com/office/drawing/2014/main" id="{472F9B6D-2403-B6F0-3CEC-B4C6AABE00EA}"/>
              </a:ext>
            </a:extLst>
          </p:cNvPr>
          <p:cNvPicPr>
            <a:picLocks noChangeAspect="1"/>
          </p:cNvPicPr>
          <p:nvPr/>
        </p:nvPicPr>
        <p:blipFill>
          <a:blip r:embed="rId5"/>
          <a:stretch>
            <a:fillRect/>
          </a:stretch>
        </p:blipFill>
        <p:spPr>
          <a:xfrm>
            <a:off x="5439419" y="3954520"/>
            <a:ext cx="5188147" cy="2744859"/>
          </a:xfrm>
          <a:prstGeom prst="rect">
            <a:avLst/>
          </a:prstGeom>
        </p:spPr>
      </p:pic>
    </p:spTree>
    <p:extLst>
      <p:ext uri="{BB962C8B-B14F-4D97-AF65-F5344CB8AC3E}">
        <p14:creationId xmlns:p14="http://schemas.microsoft.com/office/powerpoint/2010/main" val="3272474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3E5B7-2A60-0030-F3C2-FA2E1540626F}"/>
              </a:ext>
            </a:extLst>
          </p:cNvPr>
          <p:cNvSpPr>
            <a:spLocks noGrp="1"/>
          </p:cNvSpPr>
          <p:nvPr>
            <p:ph type="title"/>
          </p:nvPr>
        </p:nvSpPr>
        <p:spPr/>
        <p:txBody>
          <a:bodyPr/>
          <a:lstStyle/>
          <a:p>
            <a:r>
              <a:rPr lang="en-US" dirty="0">
                <a:solidFill>
                  <a:schemeClr val="tx1"/>
                </a:solidFill>
              </a:rPr>
              <a:t>Results</a:t>
            </a:r>
          </a:p>
        </p:txBody>
      </p:sp>
      <p:sp>
        <p:nvSpPr>
          <p:cNvPr id="3" name="Slide Number Placeholder 2">
            <a:extLst>
              <a:ext uri="{FF2B5EF4-FFF2-40B4-BE49-F238E27FC236}">
                <a16:creationId xmlns:a16="http://schemas.microsoft.com/office/drawing/2014/main" id="{E9414762-6E94-9F2B-9643-0F2986A2B8C1}"/>
              </a:ext>
            </a:extLst>
          </p:cNvPr>
          <p:cNvSpPr>
            <a:spLocks noGrp="1"/>
          </p:cNvSpPr>
          <p:nvPr>
            <p:ph type="sldNum" sz="quarter" idx="12"/>
          </p:nvPr>
        </p:nvSpPr>
        <p:spPr/>
        <p:txBody>
          <a:bodyPr/>
          <a:lstStyle/>
          <a:p>
            <a:fld id="{D57F1E4F-1CFF-5643-939E-217C01CDF565}" type="slidenum">
              <a:rPr lang="en-US" smtClean="0"/>
              <a:pPr/>
              <a:t>15</a:t>
            </a:fld>
            <a:endParaRPr lang="en-US" dirty="0"/>
          </a:p>
        </p:txBody>
      </p:sp>
      <p:pic>
        <p:nvPicPr>
          <p:cNvPr id="5" name="Picture 4">
            <a:extLst>
              <a:ext uri="{FF2B5EF4-FFF2-40B4-BE49-F238E27FC236}">
                <a16:creationId xmlns:a16="http://schemas.microsoft.com/office/drawing/2014/main" id="{957943EE-0772-077C-A520-1B01FA39C74F}"/>
              </a:ext>
            </a:extLst>
          </p:cNvPr>
          <p:cNvPicPr>
            <a:picLocks noChangeAspect="1"/>
          </p:cNvPicPr>
          <p:nvPr/>
        </p:nvPicPr>
        <p:blipFill>
          <a:blip r:embed="rId2"/>
          <a:stretch>
            <a:fillRect/>
          </a:stretch>
        </p:blipFill>
        <p:spPr>
          <a:xfrm>
            <a:off x="410987" y="1269999"/>
            <a:ext cx="7820393" cy="4319037"/>
          </a:xfrm>
          <a:prstGeom prst="rect">
            <a:avLst/>
          </a:prstGeom>
        </p:spPr>
      </p:pic>
    </p:spTree>
    <p:extLst>
      <p:ext uri="{BB962C8B-B14F-4D97-AF65-F5344CB8AC3E}">
        <p14:creationId xmlns:p14="http://schemas.microsoft.com/office/powerpoint/2010/main" val="369014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3953808" y="1225795"/>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66667EE2-D2E3-95DD-97D4-4B3913074C47}"/>
              </a:ext>
            </a:extLst>
          </p:cNvPr>
          <p:cNvSpPr txBox="1"/>
          <p:nvPr/>
        </p:nvSpPr>
        <p:spPr>
          <a:xfrm>
            <a:off x="675957" y="1800808"/>
            <a:ext cx="8220269" cy="4247317"/>
          </a:xfrm>
          <a:prstGeom prst="rect">
            <a:avLst/>
          </a:prstGeom>
          <a:noFill/>
        </p:spPr>
        <p:txBody>
          <a:bodyPr wrap="square" rtlCol="0">
            <a:spAutoFit/>
          </a:bodyPr>
          <a:lstStyle/>
          <a:p>
            <a:pPr marL="285750" lvl="0" indent="-285750">
              <a:buFont typeface="Arial" panose="020B0604020202020204" pitchFamily="34" charset="0"/>
              <a:buChar char="•"/>
            </a:pPr>
            <a:r>
              <a:rPr lang="en-US" b="1" dirty="0"/>
              <a:t>IoT &amp; Satellite Imagery Integration</a:t>
            </a:r>
            <a:endParaRPr lang="en-US" dirty="0"/>
          </a:p>
          <a:p>
            <a:pPr marL="742950" lvl="1" indent="-285750">
              <a:buFont typeface="Arial" panose="020B0604020202020204" pitchFamily="34" charset="0"/>
              <a:buChar char="•"/>
            </a:pPr>
            <a:r>
              <a:rPr lang="en-US" dirty="0"/>
              <a:t>Integrate Sentinel-2 / Landsat NDVI satellite data and IoT ground sensors (soil moisture, pH) for real-time field monitoring.</a:t>
            </a:r>
          </a:p>
          <a:p>
            <a:pPr marL="285750" lvl="0" indent="-285750">
              <a:buFont typeface="Arial" panose="020B0604020202020204" pitchFamily="34" charset="0"/>
              <a:buChar char="•"/>
            </a:pPr>
            <a:r>
              <a:rPr lang="en-US" b="1" dirty="0"/>
              <a:t>Deep Learning for Climate Resilience</a:t>
            </a:r>
            <a:endParaRPr lang="en-US" dirty="0"/>
          </a:p>
          <a:p>
            <a:pPr marL="742950" lvl="1" indent="-285750">
              <a:buFont typeface="Arial" panose="020B0604020202020204" pitchFamily="34" charset="0"/>
              <a:buChar char="•"/>
            </a:pPr>
            <a:r>
              <a:rPr lang="en-US" dirty="0"/>
              <a:t>Implement advanced time-series models (e.g., LSTM, Transformer models) to forecast the impact of sudden weather anomalies, unseasonal rainfall, and droughts.</a:t>
            </a:r>
          </a:p>
          <a:p>
            <a:pPr marL="285750" lvl="0" indent="-285750">
              <a:buFont typeface="Arial" panose="020B0604020202020204" pitchFamily="34" charset="0"/>
              <a:buChar char="•"/>
            </a:pPr>
            <a:r>
              <a:rPr lang="en-US" b="1" dirty="0"/>
              <a:t>Hyper-Local Precision Advisory</a:t>
            </a:r>
            <a:endParaRPr lang="en-US" dirty="0"/>
          </a:p>
          <a:p>
            <a:pPr marL="742950" lvl="1" indent="-285750">
              <a:buFont typeface="Arial" panose="020B0604020202020204" pitchFamily="34" charset="0"/>
              <a:buChar char="•"/>
            </a:pPr>
            <a:r>
              <a:rPr lang="en-US" dirty="0"/>
              <a:t>Scale analysis down from district/state level to farm- or village-level precision recommendations for crop selection and fertilizer scheduling.</a:t>
            </a:r>
          </a:p>
          <a:p>
            <a:pPr marL="285750" lvl="0" indent="-285750">
              <a:buFont typeface="Arial" panose="020B0604020202020204" pitchFamily="34" charset="0"/>
              <a:buChar char="•"/>
            </a:pPr>
            <a:r>
              <a:rPr lang="en-US" b="1" dirty="0"/>
              <a:t>Market Intelligence &amp; Price Forecasting</a:t>
            </a:r>
            <a:endParaRPr lang="en-US" dirty="0"/>
          </a:p>
          <a:p>
            <a:pPr marL="742950" lvl="1" indent="-285750">
              <a:buFont typeface="Arial" panose="020B0604020202020204" pitchFamily="34" charset="0"/>
              <a:buChar char="•"/>
            </a:pPr>
            <a:r>
              <a:rPr lang="en-US" dirty="0"/>
              <a:t>Correlate seasonal yields with APMC Mandi prices and Minimum Support Price (MSP) trends to guide farmers on optimal harvest timing and profitability.</a:t>
            </a:r>
          </a:p>
        </p:txBody>
      </p:sp>
    </p:spTree>
    <p:extLst>
      <p:ext uri="{BB962C8B-B14F-4D97-AF65-F5344CB8AC3E}">
        <p14:creationId xmlns:p14="http://schemas.microsoft.com/office/powerpoint/2010/main" val="776828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1477328"/>
          </a:xfrm>
          <a:prstGeom prst="rect">
            <a:avLst/>
          </a:prstGeom>
          <a:noFill/>
        </p:spPr>
        <p:txBody>
          <a:bodyPr wrap="square">
            <a:spAutoFit/>
          </a:bodyPr>
          <a:lstStyle/>
          <a:p>
            <a:r>
              <a:rPr lang="en-US" dirty="0"/>
              <a:t>For detailed review of our complete project, including the dataset, code, analysis, visualizations, and results, please visit our</a:t>
            </a:r>
          </a:p>
          <a:p>
            <a:r>
              <a:rPr lang="en-US" dirty="0"/>
              <a:t> GitHub repository:</a:t>
            </a:r>
            <a:br>
              <a:rPr lang="en-US" dirty="0"/>
            </a:br>
            <a:r>
              <a:rPr lang="en-US" dirty="0">
                <a:hlinkClick r:id="rId3"/>
              </a:rPr>
              <a:t>https://github.com/ManasThakre-Max/seasonal-agriculture-performance-analysis</a:t>
            </a:r>
            <a:endParaRPr lang="en-US" dirty="0"/>
          </a:p>
        </p:txBody>
      </p:sp>
    </p:spTree>
    <p:extLst>
      <p:ext uri="{BB962C8B-B14F-4D97-AF65-F5344CB8AC3E}">
        <p14:creationId xmlns:p14="http://schemas.microsoft.com/office/powerpoint/2010/main" val="3863610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BB1B253-B047-E9CC-C13A-975FA0B1D678}"/>
              </a:ext>
            </a:extLst>
          </p:cNvPr>
          <p:cNvPicPr>
            <a:picLocks noChangeAspect="1"/>
          </p:cNvPicPr>
          <p:nvPr/>
        </p:nvPicPr>
        <p:blipFill>
          <a:blip r:embed="rId3"/>
          <a:stretch>
            <a:fillRect/>
          </a:stretch>
        </p:blipFill>
        <p:spPr>
          <a:xfrm>
            <a:off x="450704" y="1255247"/>
            <a:ext cx="9710333" cy="5500530"/>
          </a:xfrm>
          <a:prstGeom prst="rect">
            <a:avLst/>
          </a:prstGeom>
        </p:spPr>
      </p:pic>
    </p:spTree>
    <p:extLst>
      <p:ext uri="{BB962C8B-B14F-4D97-AF65-F5344CB8AC3E}">
        <p14:creationId xmlns:p14="http://schemas.microsoft.com/office/powerpoint/2010/main" val="3962802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0/xmlns/"/>
    <ds:schemaRef ds:uri="http://www.w3.org/2001/XMLSchema"/>
    <ds:schemaRef ds:uri="71af3243-3dd4-4a8d-8c0d-dd76da1f02a5"/>
    <ds:schemaRef ds:uri="16c05727-aa75-4e4a-9b5f-8a80a116589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www.w3.org/2000/xmlns/"/>
    <ds:schemaRef ds:uri="71af3243-3dd4-4a8d-8c0d-dd76da1f02a5"/>
    <ds:schemaRef ds:uri="http://www.w3.org/2001/XMLSchema-instance"/>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Facet</Template>
  <TotalTime>1388</TotalTime>
  <Words>810</Words>
  <Application>Microsoft Office PowerPoint</Application>
  <PresentationFormat>Widescreen</PresentationFormat>
  <Paragraphs>69</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Seasonal Agriculture Performance Analysis is a data analytics project that analyzes agricultural performance across Kharif, Rabi, and Zaid seasons. The project uses agricultural data containing information about crops, regions, environmental conditions, farming practices, resource usage, production, yield, and economic outcomes. The analysis involves data cleaning, exploratory data analysis, statistical analysis, and data visualization using Python. The project compares seasonal differences in yield, production, revenue, cost, profit, rainfall, temperature, water usage, fertilizer and pesticide usage, and irrigation methods. It also examines relationships between environmental conditions and agricultural yield, compares seasonal performance across different states, and identifies unusual patterns and variations in the data. The findings are used to identify the best-performing seasons, resource-efficiency patterns, economic differences, and regional variations, and to provide insights that can support better seasonal agricultural planning and decision-making. </vt:lpstr>
      <vt:lpstr>WHO ARE THE END USERS?</vt:lpstr>
      <vt:lpstr>Technology Used</vt:lpstr>
      <vt:lpstr>RESULTS </vt:lpstr>
      <vt:lpstr>RESULTS </vt:lpstr>
      <vt:lpstr>RESULTS </vt:lpstr>
      <vt:lpstr>RESULTS </vt:lpstr>
      <vt:lpstr>RESULTS </vt:lpstr>
      <vt:lpstr>Results</vt:lpstr>
      <vt:lpstr>Results</vt:lpstr>
      <vt:lpstr>Results</vt:lpstr>
      <vt:lpstr>Results</vt:lpstr>
      <vt:lpstr>Results</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MANAS THAKRE</cp:lastModifiedBy>
  <cp:revision>100</cp:revision>
  <dcterms:created xsi:type="dcterms:W3CDTF">2021-07-11T13:13:15Z</dcterms:created>
  <dcterms:modified xsi:type="dcterms:W3CDTF">2026-09-08T17:36:09Z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